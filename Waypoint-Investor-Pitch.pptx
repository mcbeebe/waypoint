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BD5E1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CBD5E1"/>
                </a:solidFill>
                <a:latin typeface="Calibri"/>
              </a:rPr>
              <a:t>Monthly Revenue Ramp — Year 1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400</c:v>
                </c:pt>
                <c:pt idx="2">
                  <c:v>1410</c:v>
                </c:pt>
                <c:pt idx="3">
                  <c:v>2800</c:v>
                </c:pt>
                <c:pt idx="4">
                  <c:v>4040</c:v>
                </c:pt>
                <c:pt idx="5">
                  <c:v>6000</c:v>
                </c:pt>
                <c:pt idx="6">
                  <c:v>7980</c:v>
                </c:pt>
                <c:pt idx="7">
                  <c:v>10000</c:v>
                </c:pt>
                <c:pt idx="8">
                  <c:v>12580</c:v>
                </c:pt>
                <c:pt idx="9">
                  <c:v>15000</c:v>
                </c:pt>
                <c:pt idx="10">
                  <c:v>16800</c:v>
                </c:pt>
                <c:pt idx="11">
                  <c:v>18600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749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63B5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731520"/>
            <a:ext cx="1371600" cy="13716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5220" y="107442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0972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Waypoint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731520" y="2194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child’s unexpected journey. Every step, mapped.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291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disability services navigation for families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931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Beebe  •  Founder &amp; CEO  •  February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 •  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"It’s like filing your taxes using nothing but the tax code,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if you make a mistake, the person who suffers is your child."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Parent of a child with autism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7680960" cy="777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167128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0428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45920" y="208483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are exhausted before the paperwork starts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645920" y="235915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Emotionally taxed from daily caregiving challenges, parents don’t have the time or energy to also become experts in disability law, insurance negotiation, and bureaucratic navigation.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297180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14400" y="3081528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21868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99923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disjointed, disconnected, disorganized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645920" y="327355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don’t talk to Regional Centers. RC doesn’t coordinate with schools. Therapists don’t know what insurance approved. No one has the full picture. Parents become the connective tissue.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31520" y="3886200"/>
            <a:ext cx="7680960" cy="777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14400" y="3995928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133088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391363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is quarterbacking the child’s care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645920" y="418795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need a project manager who sees everything, knows what’s next, and drives things forward. Instead, parents are forced into this role by default—with no tools and no training.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 •  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the work. Parent reviews and approves.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931920" cy="1463040"/>
          </a:xfrm>
          <a:prstGeom prst="rect">
            <a:avLst/>
          </a:prstGeom>
          <a:solidFill>
            <a:srgbClr val="263B5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2593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54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(Quarterback)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71600" y="19202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emails to providers. Writes insurance appeals. Reviews IEPs and suggests edits. Files reimbursements. Parent just reviews and hits send.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417320"/>
            <a:ext cx="3931920" cy="1463040"/>
          </a:xfrm>
          <a:prstGeom prst="rect">
            <a:avLst/>
          </a:prstGeom>
          <a:solidFill>
            <a:srgbClr val="263B5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160020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72593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554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Engine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77840" y="19202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eligibility list. AI pre-fills applications for SSI, IHSS, ABLE, Medi-Cal. Parent reviews final step.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108960"/>
            <a:ext cx="3931920" cy="1463040"/>
          </a:xfrm>
          <a:prstGeom prst="rect">
            <a:avLst/>
          </a:prstGeom>
          <a:solidFill>
            <a:srgbClr val="263B5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41757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246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Tracker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371600" y="3611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 dollar: expenses, claims, reimbursements. AI drafts follow-ups on overdue claims. Tax threshold alerts.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754880" y="3108960"/>
            <a:ext cx="3931920" cy="1463040"/>
          </a:xfrm>
          <a:prstGeom prst="rect">
            <a:avLst/>
          </a:prstGeom>
          <a:solidFill>
            <a:srgbClr val="263B5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37760" y="3291840"/>
            <a:ext cx="502920" cy="502920"/>
          </a:xfrm>
          <a:prstGeom prst="ellipse">
            <a:avLst/>
          </a:prstGeom>
          <a:solidFill>
            <a:srgbClr val="3B599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490" y="3417570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3246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Manager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577840" y="3611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vault, deadline engine, appointment tracker. AI reads uploaded IEPs and extracts goals, dates, and action items.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 •  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Agent in Action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chatbot. An agent that does the work.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93192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661922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4813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Emails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181051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says ‘Insurance denied OT.’ AI drafts email to therapist requesting medical necessity letter, pre-fills details, parent opens in Mail.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371600"/>
            <a:ext cx="393192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9"/>
          <p:cNvSpPr/>
          <p:nvPr/>
        </p:nvSpPr>
        <p:spPr>
          <a:xfrm>
            <a:off x="4937760" y="1536192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661922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4813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Appeal Letters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77840" y="181051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complete insurance appeal citing CA Insurance Code, Mental Health Parity Act, Lanterman Act. Attaches supporting docs. Export as PDF.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017520"/>
            <a:ext cx="393192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3"/>
          <p:cNvSpPr/>
          <p:nvPr/>
        </p:nvSpPr>
        <p:spPr>
          <a:xfrm>
            <a:off x="731520" y="3182112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307842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1272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Redlines IEPs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371600" y="34564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current IEP, cross-references progress reports, marks goals as met with evidence, suggests new goals. Parent accepts or edits.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54880" y="3017520"/>
            <a:ext cx="393192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17"/>
          <p:cNvSpPr/>
          <p:nvPr/>
        </p:nvSpPr>
        <p:spPr>
          <a:xfrm>
            <a:off x="4937760" y="3182112"/>
            <a:ext cx="502920" cy="502920"/>
          </a:xfrm>
          <a:prstGeom prst="ellipse">
            <a:avLst/>
          </a:prstGeom>
          <a:solidFill>
            <a:srgbClr val="3B599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490" y="3307842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31272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Reimbursements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577840" y="34564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RC and insurance reimbursement requests, attaches receipts, cites POS codes. Tracks status and auto-drafts follow-ups when overdue.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 •  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200400" cy="3200400"/>
          </a:xfrm>
          <a:prstGeom prst="ellipse">
            <a:avLst/>
          </a:prstGeom>
          <a:solidFill>
            <a:srgbClr val="0891B2">
              <a:alpha val="15000"/>
            </a:srgbClr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$1.2–2.4B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TAM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10M+ U.S. kids w/ disabilities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103120"/>
            <a:ext cx="2286000" cy="2286000"/>
          </a:xfrm>
          <a:prstGeom prst="ellipse">
            <a:avLst/>
          </a:prstGeom>
          <a:solidFill>
            <a:srgbClr val="F97316">
              <a:alpha val="15000"/>
            </a:srgbClr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286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$150M+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SAM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1.2M CA children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2926080"/>
            <a:ext cx="1371600" cy="1371600"/>
          </a:xfrm>
          <a:prstGeom prst="ellipse">
            <a:avLst/>
          </a:prstGeom>
          <a:solidFill>
            <a:srgbClr val="10B981">
              <a:alpha val="2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30175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$3–6M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SOM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Bay Area Y1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1097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in 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0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has a developmental disability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in 36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diagnosed with autism (up from 1/150)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377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$1.4–$2.4M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23774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cost of raising a child with a disability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3017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400K+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3017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Californians receiving Regional Center services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657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$15.8B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0" y="3657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DDS annual budget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4297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17.8%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4297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income needed annually for disability care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 •  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Journey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compounds at every phase — AI does more as it learns the family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32688" y="1691640"/>
            <a:ext cx="54864" cy="1371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207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44475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→ searches for help → finds Waypoint via FB group, therapist, or App Store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2688" y="2331720"/>
            <a:ext cx="54864" cy="1371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847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0848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 setup: child, diagnosis, state, RC, insurance → AI generates personalized benefits list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32688" y="2971800"/>
            <a:ext cx="54864" cy="1371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2487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VALUE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272491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5–15 programs they didn’t know about. Asks AI ‘What do I do first?’ → prioritized action plan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32688" y="3611880"/>
            <a:ext cx="54864" cy="1371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31272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TAKES ACTION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336499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emails, writes appeals, redlines IEPs, files reimbursements. Parent reviews &amp; sends.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37947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32688" y="4251960"/>
            <a:ext cx="54864" cy="1371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3767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MANAGE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71600" y="400507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Expenses, reimbursements, deadlines, documents. AI proactively surfaces missed opportunities.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44348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71600" y="4407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&amp; EXPAND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71600" y="464515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transitions, new benefits, referrals, ABLE accounts, lifetime financial planning.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 •  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1430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reached the threshold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44475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now understand nuanced legal questions and generate personalized guidance. RAG ensures factual grounding. This was not possible two years ago.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768096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057400"/>
            <a:ext cx="73152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1031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prevalence is surging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4048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36 children now diagnosed with autism. ADHD rates doubled. Post-COVID neurodiversity awareness has driven mainstream demand for resources.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768096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017520"/>
            <a:ext cx="73152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0632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funding is under threat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33649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cuts to IDEA, Medicaid, and HHS create urgency. Families need help understanding and protecting benefits they have.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768096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977640"/>
            <a:ext cx="73152" cy="822960"/>
          </a:xfrm>
          <a:prstGeom prst="rect">
            <a:avLst/>
          </a:prstGeom>
          <a:solidFill>
            <a:srgbClr val="3B5998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0233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Undivided validated the market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43251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families will pay for navigation and Regional Centers will reimburse parent tools. Waypoint brings AI-native economics.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 •  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64592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Waypoint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Undivided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 Navigators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 Groups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Navigator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 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Vault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IEP/IPP Prep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Planning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24/7 Availability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50-State Scalable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Undivided validates the market. Waypoint brings AI-native economics: 24/7, personalized, scalable.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 •  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streams aligned with family outcomes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7680960" cy="1005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28016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Subscription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$9.99–19.99/mo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0" y="1325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2+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6916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Navigator, expense tracker, document vault, deadline alerts, IEP/IPP prep, tax reports. Pro tier adds appeal generation + attorney connections.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7680960" cy="1005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468880"/>
            <a:ext cx="73152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514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Center Reimbursement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Funded by RC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40880" y="2514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4+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8803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reimburses Waypoint as “parent training” (POS codes 371/331). The system pays for families to use the product. Undivided established this precedent.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657600"/>
            <a:ext cx="73152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Provider Partnerships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$99–299/mo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3703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40690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ABA, OT, PT, speech therapists, attorneys, and financial planners pay for featured listings, verified reviews, and referrals.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 •  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Projections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2468880" cy="1188720"/>
          </a:xfrm>
          <a:prstGeom prst="rect">
            <a:avLst/>
          </a:prstGeom>
          <a:solidFill>
            <a:srgbClr val="263B5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97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$130–180K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Revenue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005840"/>
            <a:ext cx="2468880" cy="1188720"/>
          </a:xfrm>
          <a:prstGeom prst="rect">
            <a:avLst/>
          </a:prstGeom>
          <a:solidFill>
            <a:srgbClr val="263B5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097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&lt;$15K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7472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Costs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005840"/>
            <a:ext cx="2468880" cy="1188720"/>
          </a:xfrm>
          <a:prstGeom prst="rect">
            <a:avLst/>
          </a:prstGeom>
          <a:solidFill>
            <a:srgbClr val="263B5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097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&gt;85%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1792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48640" y="2468880"/>
          <a:ext cx="80467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 •  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Go-to-Market: First 90 Days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97480" cy="3840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69748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51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261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&amp; Build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MVP: AI Navigator + eligibility engine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Lanterman Act, IDEA, 21 RC standards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3–5 East Bay OT/ABA practices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relationships in 15+ parent FB groups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Family Resource Centers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005840"/>
            <a:ext cx="2697480" cy="3840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05840"/>
            <a:ext cx="2697480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051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1261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Launch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1828800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to 100 families (free)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3 paying therapy practices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2–3 special ed attorneys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RC reimbursement documentation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based on user feedback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697480" cy="3840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05840"/>
            <a:ext cx="269748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051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1261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1828800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Store submission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premium subscriptions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PR: disability publications, Bay Area media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2,000 users, 220 paid, 8 B2B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expense tracker module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 •  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4023360" cy="3474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Cross-platform mobile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928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Auth, realtime, pgvector, RLS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LLM backbone for AI Navigator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6609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Knowledge base RAG retrieval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044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Vision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OCR for uploaded documents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Algolia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Instant search for benefits &amp; providers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813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RevenueCat + Stripe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Subscriptions + B2B payments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023360" cy="3474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5087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developer salaries — built with AI coding tools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~$150–350/mo infrastructure at launch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100K+ users without re-platforming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 = factually grounded AI responses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week MVP timeline for a solo founder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managed-services architecture proven at Solaris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 •  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Milestones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417320" y="1874520"/>
            <a:ext cx="36576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28016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20240" y="1170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1444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complete. Tech stack selected. Knowledge base design initiated. OT/ABA practice outreach begun.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417320" y="2834640"/>
            <a:ext cx="36576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224028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920240" y="21305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240487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 on iOS. 2,000 users, 220 paid subscribers. 8 B2B partners. $4K MRR. RC reimbursement established.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417320" y="3794760"/>
            <a:ext cx="36576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320040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920240" y="30906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336499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users, 550 paid. 20 B2B partners. Expense tracker live. $10K MRR. Multi-state knowledge base.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188720" y="41605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920240" y="40507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20240" y="432511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users, 1,100 paid. 30 B2B partners. $18.6K MRR. Preparing Series Seed. Android launch.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 •  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Moat &amp; Defensibility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768096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124712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250442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078992"/>
            <a:ext cx="6583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Knowledge Base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54480" y="134416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Curated, state-by-state database of disability program rules grows more valuable with every interaction.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1828800"/>
            <a:ext cx="768096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1901952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27682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1856232"/>
            <a:ext cx="6583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554480" y="212140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family makes the AI smarter — strategies, providers, and missed benefits surface for the next family.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2606040"/>
            <a:ext cx="768096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914400" y="2679192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2804922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2633472"/>
            <a:ext cx="6583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Costs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554480" y="289864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IEPs, evaluations, expense history, and provider contacts create deep lock-in.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31520" y="3383280"/>
            <a:ext cx="768096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6"/>
          <p:cNvSpPr/>
          <p:nvPr/>
        </p:nvSpPr>
        <p:spPr>
          <a:xfrm>
            <a:off x="914400" y="3456432"/>
            <a:ext cx="502920" cy="502920"/>
          </a:xfrm>
          <a:prstGeom prst="ellipse">
            <a:avLst/>
          </a:prstGeom>
          <a:solidFill>
            <a:srgbClr val="3B599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3582162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3410712"/>
            <a:ext cx="6583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Distribution Channel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554480" y="367588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Reimbursement through Regional Center creates institutional distribution competitors must independently establish.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31520" y="4160520"/>
            <a:ext cx="768096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0"/>
          <p:cNvSpPr/>
          <p:nvPr/>
        </p:nvSpPr>
        <p:spPr>
          <a:xfrm>
            <a:off x="914400" y="4233672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" y="4359402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4187952"/>
            <a:ext cx="6583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Trust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554480" y="445312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disability parenting, word-of-mouth is everything. Early reputation creates durable advantage.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 •  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Founder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solidFill>
            <a:srgbClr val="263B5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234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Mike Beebe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6949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enterprise software and platform architecture experience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manages Solaris — an 80-site solar asset management platform at King Energy, scaling to 200+ sites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expertise in data pipelines, API integrations, alert normalization, and multi-source operational intelligence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of two boys (ages 4 and 8) in Oakland — the exact target user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Waypoint with AI-assisted development: Claude, ChatGPT, GitHub Copilot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scaling expertise directly analogous: Solaris normalizes data from multiple vendors → Waypoint normalizes services from multiple systems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 •  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1371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0972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Bootstrapped — Seeking Strategic Advisors &amp; Pre-Seed Partners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can reach profitability without external funding. Year 1 revenue $130–180K against &lt;$15K in costs. The founder is open to pre-seed investment to accelerate growth in four areas: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73152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70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depth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26700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part-time special ed attorney + disability benefits specialist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154680"/>
            <a:ext cx="73152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1729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Multi-state expansion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3172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York, Texas, Illinois, Massachusetts program 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73152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6758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development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36758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cross-platform coverage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160520"/>
            <a:ext cx="73152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1788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acceleration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41788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social, conference sponsorships, podcast advertising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731520"/>
            <a:ext cx="1371600" cy="13716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0" y="107442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0972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Waypoint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child’s unexpected journey. Every step, mapped.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31520" y="2651760"/>
            <a:ext cx="2286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0175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Beebe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Oakland, CA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February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Waypoint — Investor Pitch Deck</dc:title>
  <dc:subject>PptxGenJS Presentation</dc:subject>
  <dc:creator>Mike Beebe</dc:creator>
  <cp:lastModifiedBy>Mike Beebe</cp:lastModifiedBy>
  <cp:revision>1</cp:revision>
  <dcterms:created xsi:type="dcterms:W3CDTF">2026-02-20T07:00:59Z</dcterms:created>
  <dcterms:modified xsi:type="dcterms:W3CDTF">2026-02-20T07:00:59Z</dcterms:modified>
</cp:coreProperties>
</file>